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8" r:id="rId1"/>
  </p:sldMasterIdLst>
  <p:handoutMasterIdLst>
    <p:handoutMasterId r:id="rId11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44" d="100"/>
          <a:sy n="144" d="100"/>
        </p:scale>
        <p:origin x="150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1" d="100"/>
          <a:sy n="121" d="100"/>
        </p:scale>
        <p:origin x="5022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 sz="1200" dirty="0"/>
              <a:t>Profit Margin by Discount Level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Margin by Discount Level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465-4F8A-BC13-699CFB0B1771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3465-4F8A-BC13-699CFB0B177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No discount</c:v>
                </c:pt>
                <c:pt idx="1">
                  <c:v>Low (0-20%)</c:v>
                </c:pt>
                <c:pt idx="2">
                  <c:v>Median (20-40%)</c:v>
                </c:pt>
                <c:pt idx="3">
                  <c:v>High (40%+)</c:v>
                </c:pt>
              </c:strCache>
            </c:strRef>
          </c:cat>
          <c:val>
            <c:numRef>
              <c:f>Sheet1!$B$2:$B$5</c:f>
              <c:numCache>
                <c:formatCode>0.00%</c:formatCode>
                <c:ptCount val="4"/>
                <c:pt idx="0">
                  <c:v>0.29499999999999998</c:v>
                </c:pt>
                <c:pt idx="1">
                  <c:v>0.11799999999999999</c:v>
                </c:pt>
                <c:pt idx="2">
                  <c:v>-0.19800000000000001</c:v>
                </c:pt>
                <c:pt idx="3">
                  <c:v>-0.98699999999999999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465-4F8A-BC13-699CFB0B177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101908895"/>
        <c:axId val="634669839"/>
      </c:barChart>
      <c:catAx>
        <c:axId val="11019088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34669839"/>
        <c:crosses val="autoZero"/>
        <c:auto val="1"/>
        <c:lblAlgn val="ctr"/>
        <c:lblOffset val="100"/>
        <c:noMultiLvlLbl val="0"/>
      </c:catAx>
      <c:valAx>
        <c:axId val="634669839"/>
        <c:scaling>
          <c:orientation val="minMax"/>
        </c:scaling>
        <c:delete val="0"/>
        <c:axPos val="l"/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019088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200" dirty="0"/>
              <a:t>Top 5 Products</a:t>
            </a:r>
            <a:r>
              <a:rPr lang="en-US" sz="1200" baseline="0" dirty="0"/>
              <a:t> by Sales – Sales vs. Profit</a:t>
            </a:r>
            <a:endParaRPr lang="en-US" sz="12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7.7586245078740151E-2"/>
          <c:y val="0.10136109120564153"/>
          <c:w val="0.89741375492125985"/>
          <c:h val="0.8819279723223442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Canon Copier</c:v>
                </c:pt>
                <c:pt idx="1">
                  <c:v>Fellowers Binder</c:v>
                </c:pt>
                <c:pt idx="2">
                  <c:v>Cisco TelePresence</c:v>
                </c:pt>
                <c:pt idx="3">
                  <c:v>HON Chairs</c:v>
                </c:pt>
                <c:pt idx="4">
                  <c:v>GBC DocuBind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61599.8</c:v>
                </c:pt>
                <c:pt idx="1">
                  <c:v>27453.4</c:v>
                </c:pt>
                <c:pt idx="2">
                  <c:v>22638.5</c:v>
                </c:pt>
                <c:pt idx="3">
                  <c:v>21870.6</c:v>
                </c:pt>
                <c:pt idx="4">
                  <c:v>19823.5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ED-44C7-9AF4-497A024D733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 Profit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Canon Copier</c:v>
                </c:pt>
                <c:pt idx="1">
                  <c:v>Fellowers Binder</c:v>
                </c:pt>
                <c:pt idx="2">
                  <c:v>Cisco TelePresence</c:v>
                </c:pt>
                <c:pt idx="3">
                  <c:v>HON Chairs</c:v>
                </c:pt>
                <c:pt idx="4">
                  <c:v>GBC DocuBind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25199.9</c:v>
                </c:pt>
                <c:pt idx="1">
                  <c:v>7753</c:v>
                </c:pt>
                <c:pt idx="2">
                  <c:v>-1811</c:v>
                </c:pt>
                <c:pt idx="3">
                  <c:v>0</c:v>
                </c:pt>
                <c:pt idx="4">
                  <c:v>2233.5100000000002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3ED-44C7-9AF4-497A024D73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12559679"/>
        <c:axId val="634788399"/>
      </c:barChart>
      <c:catAx>
        <c:axId val="10125596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34788399"/>
        <c:crosses val="autoZero"/>
        <c:auto val="1"/>
        <c:lblAlgn val="ctr"/>
        <c:lblOffset val="100"/>
        <c:noMultiLvlLbl val="0"/>
      </c:catAx>
      <c:valAx>
        <c:axId val="6347883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1255967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200" dirty="0"/>
              <a:t>Margin by Category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accent2"/>
              </a:solidFill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solidFill>
                  <a:schemeClr val="accen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BE2-4929-898D-E107C6E21ECC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2"/>
              </a:solidFill>
              <a:ln>
                <a:solidFill>
                  <a:schemeClr val="accent2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0BE2-4929-898D-E107C6E21ECC}"/>
              </c:ext>
            </c:extLst>
          </c:dPt>
          <c:cat>
            <c:strRef>
              <c:f>Sheet1!$A$2:$A$4</c:f>
              <c:strCache>
                <c:ptCount val="3"/>
                <c:pt idx="0">
                  <c:v>Furniture</c:v>
                </c:pt>
                <c:pt idx="1">
                  <c:v>Office Supplies</c:v>
                </c:pt>
                <c:pt idx="2">
                  <c:v>Technology</c:v>
                </c:pt>
              </c:strCache>
            </c:strRef>
          </c:cat>
          <c:val>
            <c:numRef>
              <c:f>Sheet1!$B$2:$B$4</c:f>
              <c:numCache>
                <c:formatCode>0.00%</c:formatCode>
                <c:ptCount val="3"/>
                <c:pt idx="0">
                  <c:v>2.5000000000000001E-2</c:v>
                </c:pt>
                <c:pt idx="1">
                  <c:v>0.17</c:v>
                </c:pt>
                <c:pt idx="2">
                  <c:v>0.17399999999999999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BE2-4929-898D-E107C6E21E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20558975"/>
        <c:axId val="394418095"/>
      </c:barChart>
      <c:catAx>
        <c:axId val="102055897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94418095"/>
        <c:crosses val="autoZero"/>
        <c:auto val="1"/>
        <c:lblAlgn val="ctr"/>
        <c:lblOffset val="100"/>
        <c:noMultiLvlLbl val="0"/>
      </c:catAx>
      <c:valAx>
        <c:axId val="3944180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055897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200" dirty="0"/>
              <a:t>Margin by Furniture Sub-Category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4799047074184954"/>
          <c:y val="0.12854912863258283"/>
          <c:w val="0.82614358531718679"/>
          <c:h val="0.8505327746259014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1EC3-4E0A-8FB4-79F33E5B62BD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1EC3-4E0A-8FB4-79F33E5B62BD}"/>
              </c:ext>
            </c:extLst>
          </c:dPt>
          <c:cat>
            <c:strRef>
              <c:f>Sheet1!$A$2:$A$5</c:f>
              <c:strCache>
                <c:ptCount val="4"/>
                <c:pt idx="0">
                  <c:v>Tables</c:v>
                </c:pt>
                <c:pt idx="1">
                  <c:v>Bookcases</c:v>
                </c:pt>
                <c:pt idx="2">
                  <c:v>Furnishings</c:v>
                </c:pt>
                <c:pt idx="3">
                  <c:v>Chairs</c:v>
                </c:pt>
              </c:strCache>
            </c:strRef>
          </c:cat>
          <c:val>
            <c:numRef>
              <c:f>Sheet1!$B$2:$B$5</c:f>
              <c:numCache>
                <c:formatCode>0.00%</c:formatCode>
                <c:ptCount val="4"/>
                <c:pt idx="0">
                  <c:v>-8.5999999999999993E-2</c:v>
                </c:pt>
                <c:pt idx="1">
                  <c:v>-0.03</c:v>
                </c:pt>
                <c:pt idx="2">
                  <c:v>0.14199999999999999</c:v>
                </c:pt>
                <c:pt idx="3">
                  <c:v>8.1000000000000003E-2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EC3-4E0A-8FB4-79F33E5B62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87957279"/>
        <c:axId val="394395535"/>
      </c:barChart>
      <c:catAx>
        <c:axId val="3879572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94395535"/>
        <c:crosses val="autoZero"/>
        <c:auto val="1"/>
        <c:lblAlgn val="ctr"/>
        <c:lblOffset val="100"/>
        <c:noMultiLvlLbl val="0"/>
      </c:catAx>
      <c:valAx>
        <c:axId val="3943955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879572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100" dirty="0"/>
              <a:t>Sales vs. Profit</a:t>
            </a:r>
            <a:r>
              <a:rPr lang="en-US" sz="1100" baseline="0" dirty="0"/>
              <a:t> vs. Margin by Region</a:t>
            </a:r>
            <a:endParaRPr lang="en-US" sz="11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Central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501239.9</c:v>
                </c:pt>
                <c:pt idx="1">
                  <c:v>391721.9</c:v>
                </c:pt>
                <c:pt idx="2">
                  <c:v>678781.2</c:v>
                </c:pt>
                <c:pt idx="3">
                  <c:v>725457.8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2BB-4F93-84C3-4EB19CBAC20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 Profit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Central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39706.400000000001</c:v>
                </c:pt>
                <c:pt idx="1">
                  <c:v>46749.4</c:v>
                </c:pt>
                <c:pt idx="2">
                  <c:v>91522.8</c:v>
                </c:pt>
                <c:pt idx="3">
                  <c:v>108418.5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2BB-4F93-84C3-4EB19CBAC2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008676287"/>
        <c:axId val="394383055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Margin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Central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Sheet1!$D$2:$D$5</c:f>
              <c:numCache>
                <c:formatCode>0.00%</c:formatCode>
                <c:ptCount val="4"/>
                <c:pt idx="0">
                  <c:v>7.9200000000000007E-2</c:v>
                </c:pt>
                <c:pt idx="1">
                  <c:v>0.1193</c:v>
                </c:pt>
                <c:pt idx="2">
                  <c:v>0.1348</c:v>
                </c:pt>
                <c:pt idx="3">
                  <c:v>0.14940000000000001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2BB-4F93-84C3-4EB19CBAC2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08692063"/>
        <c:axId val="394390735"/>
      </c:lineChart>
      <c:catAx>
        <c:axId val="10086762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94383055"/>
        <c:crosses val="autoZero"/>
        <c:auto val="1"/>
        <c:lblAlgn val="ctr"/>
        <c:lblOffset val="100"/>
        <c:noMultiLvlLbl val="0"/>
      </c:catAx>
      <c:valAx>
        <c:axId val="3943830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08676287"/>
        <c:crosses val="autoZero"/>
        <c:crossBetween val="between"/>
      </c:valAx>
      <c:valAx>
        <c:axId val="394390735"/>
        <c:scaling>
          <c:orientation val="minMax"/>
        </c:scaling>
        <c:delete val="0"/>
        <c:axPos val="r"/>
        <c:numFmt formatCode="0.0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08692063"/>
        <c:crosses val="max"/>
        <c:crossBetween val="between"/>
      </c:valAx>
      <c:catAx>
        <c:axId val="100869206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394390735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100" dirty="0"/>
              <a:t>Sales vs.</a:t>
            </a:r>
            <a:r>
              <a:rPr lang="en-US" sz="1100" baseline="0" dirty="0"/>
              <a:t> Profit vs. Margin by </a:t>
            </a:r>
            <a:r>
              <a:rPr lang="en-US" sz="1100" dirty="0"/>
              <a:t>Central States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Texas</c:v>
                </c:pt>
                <c:pt idx="1">
                  <c:v>Illinois</c:v>
                </c:pt>
                <c:pt idx="2">
                  <c:v>Missouri</c:v>
                </c:pt>
                <c:pt idx="3">
                  <c:v>Wisconsin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170188.1</c:v>
                </c:pt>
                <c:pt idx="1">
                  <c:v>80166.100000000006</c:v>
                </c:pt>
                <c:pt idx="2">
                  <c:v>22205.200000000001</c:v>
                </c:pt>
                <c:pt idx="3">
                  <c:v>32114.6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8AB-4FA6-9AAE-E1B3405A0A8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 Profit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Texas</c:v>
                </c:pt>
                <c:pt idx="1">
                  <c:v>Illinois</c:v>
                </c:pt>
                <c:pt idx="2">
                  <c:v>Missouri</c:v>
                </c:pt>
                <c:pt idx="3">
                  <c:v>Wisconsin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-25729.4</c:v>
                </c:pt>
                <c:pt idx="1">
                  <c:v>-12607.9</c:v>
                </c:pt>
                <c:pt idx="2">
                  <c:v>6436.2</c:v>
                </c:pt>
                <c:pt idx="3">
                  <c:v>8401.7999999999993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8AB-4FA6-9AAE-E1B3405A0A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434014335"/>
        <c:axId val="634769679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Margin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Texas</c:v>
                </c:pt>
                <c:pt idx="1">
                  <c:v>Illinois</c:v>
                </c:pt>
                <c:pt idx="2">
                  <c:v>Missouri</c:v>
                </c:pt>
                <c:pt idx="3">
                  <c:v>Wisconsin</c:v>
                </c:pt>
              </c:strCache>
            </c:strRef>
          </c:cat>
          <c:val>
            <c:numRef>
              <c:f>Sheet1!$D$2:$D$5</c:f>
              <c:numCache>
                <c:formatCode>0.00%</c:formatCode>
                <c:ptCount val="4"/>
                <c:pt idx="0">
                  <c:v>-0.1512</c:v>
                </c:pt>
                <c:pt idx="1">
                  <c:v>-0.1573</c:v>
                </c:pt>
                <c:pt idx="2">
                  <c:v>0.28989999999999999</c:v>
                </c:pt>
                <c:pt idx="3">
                  <c:v>0.2616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8AB-4FA6-9AAE-E1B3405A0A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34055631"/>
        <c:axId val="634761039"/>
      </c:lineChart>
      <c:catAx>
        <c:axId val="143401433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34769679"/>
        <c:crosses val="autoZero"/>
        <c:auto val="1"/>
        <c:lblAlgn val="ctr"/>
        <c:lblOffset val="100"/>
        <c:noMultiLvlLbl val="0"/>
      </c:catAx>
      <c:valAx>
        <c:axId val="6347696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34014335"/>
        <c:crosses val="autoZero"/>
        <c:crossBetween val="between"/>
      </c:valAx>
      <c:valAx>
        <c:axId val="634761039"/>
        <c:scaling>
          <c:orientation val="minMax"/>
        </c:scaling>
        <c:delete val="0"/>
        <c:axPos val="r"/>
        <c:numFmt formatCode="0.0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34055631"/>
        <c:crosses val="max"/>
        <c:crossBetween val="between"/>
      </c:valAx>
      <c:catAx>
        <c:axId val="1434055631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634761039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100" dirty="0"/>
              <a:t>Sales vs. Profit Trend, 2014-2017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Sheet1!$A$2:$A$5</c:f>
              <c:numCache>
                <c:formatCode>General</c:formatCode>
                <c:ptCount val="4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484247.5</c:v>
                </c:pt>
                <c:pt idx="1">
                  <c:v>470532.5</c:v>
                </c:pt>
                <c:pt idx="2">
                  <c:v>609205.6</c:v>
                </c:pt>
                <c:pt idx="3">
                  <c:v>733215.3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F1E-4BE5-A7BD-1A68CEC1646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 Profit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Sheet1!$A$2:$A$5</c:f>
              <c:numCache>
                <c:formatCode>General</c:formatCode>
                <c:ptCount val="4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</c:numCache>
            </c:numRef>
          </c:cat>
          <c:val>
            <c:numRef>
              <c:f>Sheet1!$C$2:$C$5</c:f>
              <c:numCache>
                <c:formatCode>General</c:formatCode>
                <c:ptCount val="4"/>
                <c:pt idx="0">
                  <c:v>49544</c:v>
                </c:pt>
                <c:pt idx="1">
                  <c:v>61618.6</c:v>
                </c:pt>
                <c:pt idx="2">
                  <c:v>81795.199999999997</c:v>
                </c:pt>
                <c:pt idx="3">
                  <c:v>93439.3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F1E-4BE5-A7BD-1A68CEC164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433997631"/>
        <c:axId val="634733679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Margin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Sheet1!$A$2:$A$5</c:f>
              <c:numCache>
                <c:formatCode>General</c:formatCode>
                <c:ptCount val="4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</c:numCache>
            </c:numRef>
          </c:cat>
          <c:val>
            <c:numRef>
              <c:f>Sheet1!$D$2:$D$5</c:f>
              <c:numCache>
                <c:formatCode>0.00%</c:formatCode>
                <c:ptCount val="4"/>
                <c:pt idx="0">
                  <c:v>0.1023</c:v>
                </c:pt>
                <c:pt idx="1">
                  <c:v>0.13100000000000001</c:v>
                </c:pt>
                <c:pt idx="2">
                  <c:v>0.1343</c:v>
                </c:pt>
                <c:pt idx="3">
                  <c:v>0.12740000000000001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FF1E-4BE5-A7BD-1A68CEC164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34029183"/>
        <c:axId val="394379215"/>
      </c:lineChart>
      <c:catAx>
        <c:axId val="14339976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34733679"/>
        <c:crosses val="autoZero"/>
        <c:auto val="1"/>
        <c:lblAlgn val="ctr"/>
        <c:lblOffset val="100"/>
        <c:noMultiLvlLbl val="0"/>
      </c:catAx>
      <c:valAx>
        <c:axId val="6347336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33997631"/>
        <c:crosses val="autoZero"/>
        <c:crossBetween val="between"/>
      </c:valAx>
      <c:valAx>
        <c:axId val="394379215"/>
        <c:scaling>
          <c:orientation val="minMax"/>
        </c:scaling>
        <c:delete val="0"/>
        <c:axPos val="r"/>
        <c:numFmt formatCode="0.0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34029183"/>
        <c:crosses val="max"/>
        <c:crossBetween val="between"/>
      </c:valAx>
      <c:catAx>
        <c:axId val="143402918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394379215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CD19B06-9E80-ED69-7256-3FC4EA9724E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2A51C3-1C93-5FAA-A14A-95C0058042A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4900BD-0BEF-4D8C-933D-C708E87D2A53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5E314A-E4FF-C144-E278-38CFE5F6A8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612996-5A47-7986-1739-C52BAFA2DD7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5E3174-8FB9-4143-8DC6-BECF931E83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0352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2AEF1-29F8-4F2E-9D1D-D0911A4CFA1B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4A19A-3D92-4FB9-83A0-923CCEC50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4752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2AEF1-29F8-4F2E-9D1D-D0911A4CFA1B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4A19A-3D92-4FB9-83A0-923CCEC50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710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2AEF1-29F8-4F2E-9D1D-D0911A4CFA1B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4A19A-3D92-4FB9-83A0-923CCEC50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139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2AEF1-29F8-4F2E-9D1D-D0911A4CFA1B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4A19A-3D92-4FB9-83A0-923CCEC50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122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2AEF1-29F8-4F2E-9D1D-D0911A4CFA1B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4A19A-3D92-4FB9-83A0-923CCEC50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438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2AEF1-29F8-4F2E-9D1D-D0911A4CFA1B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4A19A-3D92-4FB9-83A0-923CCEC50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790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2AEF1-29F8-4F2E-9D1D-D0911A4CFA1B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4A19A-3D92-4FB9-83A0-923CCEC50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447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2AEF1-29F8-4F2E-9D1D-D0911A4CFA1B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4A19A-3D92-4FB9-83A0-923CCEC50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26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2AEF1-29F8-4F2E-9D1D-D0911A4CFA1B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4A19A-3D92-4FB9-83A0-923CCEC50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790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2AEF1-29F8-4F2E-9D1D-D0911A4CFA1B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4A19A-3D92-4FB9-83A0-923CCEC50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168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2AEF1-29F8-4F2E-9D1D-D0911A4CFA1B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4A19A-3D92-4FB9-83A0-923CCEC50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9964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2AEF1-29F8-4F2E-9D1D-D0911A4CFA1B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4A19A-3D92-4FB9-83A0-923CCEC5053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920781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2AEF1-29F8-4F2E-9D1D-D0911A4CFA1B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4A19A-3D92-4FB9-83A0-923CCEC50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583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2AEF1-29F8-4F2E-9D1D-D0911A4CFA1B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4A19A-3D92-4FB9-83A0-923CCEC50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7516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2AEF1-29F8-4F2E-9D1D-D0911A4CFA1B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4A19A-3D92-4FB9-83A0-923CCEC50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5092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2AEF1-29F8-4F2E-9D1D-D0911A4CFA1B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4A19A-3D92-4FB9-83A0-923CCEC50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3677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2AEF1-29F8-4F2E-9D1D-D0911A4CFA1B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4A19A-3D92-4FB9-83A0-923CCEC50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280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0132AEF1-29F8-4F2E-9D1D-D0911A4CFA1B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14A19A-3D92-4FB9-83A0-923CCEC50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14179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703" r:id="rId15"/>
    <p:sldLayoutId id="2147483704" r:id="rId16"/>
    <p:sldLayoutId id="214748370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A5503-1D4C-3D79-6E45-06514E4F21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415829"/>
            <a:ext cx="8825658" cy="3329581"/>
          </a:xfrm>
        </p:spPr>
        <p:txBody>
          <a:bodyPr/>
          <a:lstStyle/>
          <a:p>
            <a:r>
              <a:rPr lang="en-US" dirty="0"/>
              <a:t>Superstore Sales &amp; Profitability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B6C277-66DD-7F67-013C-B080ED5215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numCol="3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Python	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SQL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Excel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Power BI</a:t>
            </a:r>
          </a:p>
        </p:txBody>
      </p:sp>
    </p:spTree>
    <p:extLst>
      <p:ext uri="{BB962C8B-B14F-4D97-AF65-F5344CB8AC3E}">
        <p14:creationId xmlns:p14="http://schemas.microsoft.com/office/powerpoint/2010/main" val="1467828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F6850-5A39-DFE4-EBE0-740DAE201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30" y="425423"/>
            <a:ext cx="9404723" cy="993944"/>
          </a:xfrm>
        </p:spPr>
        <p:txBody>
          <a:bodyPr/>
          <a:lstStyle/>
          <a:p>
            <a:r>
              <a:rPr lang="en-US" dirty="0"/>
              <a:t> The Business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F5AF5-B7A3-9102-3D4E-83B9373FED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236" y="1636661"/>
            <a:ext cx="10954485" cy="419548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On the surface, Superstore looks good:</a:t>
            </a:r>
          </a:p>
          <a:p>
            <a:r>
              <a:rPr lang="en-US" dirty="0"/>
              <a:t>Millions of dollars in sales every year</a:t>
            </a:r>
          </a:p>
          <a:p>
            <a:r>
              <a:rPr lang="en-US" dirty="0"/>
              <a:t>Consistent year-over-year growth</a:t>
            </a:r>
          </a:p>
          <a:p>
            <a:r>
              <a:rPr lang="en-US" dirty="0"/>
              <a:t>A wide, diverse product catalog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But revenue and profit don’t always move together</a:t>
            </a:r>
          </a:p>
          <a:p>
            <a:pPr marL="0" indent="0">
              <a:buNone/>
            </a:pPr>
            <a:r>
              <a:rPr lang="en-US" dirty="0"/>
              <a:t>Some products sell the most, but generate the least profit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Question: Why do some products and regions generate more sales but less profit</a:t>
            </a:r>
          </a:p>
        </p:txBody>
      </p:sp>
    </p:spTree>
    <p:extLst>
      <p:ext uri="{BB962C8B-B14F-4D97-AF65-F5344CB8AC3E}">
        <p14:creationId xmlns:p14="http://schemas.microsoft.com/office/powerpoint/2010/main" val="5846231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8C10A-D49E-8D73-B85E-3B6139D19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Headline Numbers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573B26-FB4B-358A-4889-93849F1BD2E2}"/>
              </a:ext>
            </a:extLst>
          </p:cNvPr>
          <p:cNvSpPr/>
          <p:nvPr/>
        </p:nvSpPr>
        <p:spPr>
          <a:xfrm>
            <a:off x="1103312" y="2028470"/>
            <a:ext cx="1550988" cy="1400530"/>
          </a:xfrm>
          <a:prstGeom prst="rect">
            <a:avLst/>
          </a:prstGeom>
          <a:solidFill>
            <a:schemeClr val="tx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$2.30M</a:t>
            </a:r>
          </a:p>
          <a:p>
            <a:pPr algn="ctr"/>
            <a:r>
              <a:rPr lang="en-US" sz="1400" dirty="0"/>
              <a:t>Total Sales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A33243-7DEC-76A4-A979-12D73CDC92F1}"/>
              </a:ext>
            </a:extLst>
          </p:cNvPr>
          <p:cNvSpPr/>
          <p:nvPr/>
        </p:nvSpPr>
        <p:spPr>
          <a:xfrm>
            <a:off x="3016250" y="2052918"/>
            <a:ext cx="1422400" cy="1400530"/>
          </a:xfrm>
          <a:prstGeom prst="rect">
            <a:avLst/>
          </a:prstGeom>
          <a:solidFill>
            <a:schemeClr val="tx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$286.4K</a:t>
            </a:r>
          </a:p>
          <a:p>
            <a:pPr algn="ctr"/>
            <a:r>
              <a:rPr lang="en-US" sz="1400" dirty="0"/>
              <a:t>Total Profit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DC2448-67F1-8A4A-0474-1CA252149BB9}"/>
              </a:ext>
            </a:extLst>
          </p:cNvPr>
          <p:cNvSpPr/>
          <p:nvPr/>
        </p:nvSpPr>
        <p:spPr>
          <a:xfrm>
            <a:off x="4908550" y="2052918"/>
            <a:ext cx="1409700" cy="1376082"/>
          </a:xfrm>
          <a:prstGeom prst="rect">
            <a:avLst/>
          </a:prstGeom>
          <a:solidFill>
            <a:schemeClr val="tx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12.47%</a:t>
            </a:r>
          </a:p>
          <a:p>
            <a:pPr algn="ctr"/>
            <a:r>
              <a:rPr lang="en-US" sz="1400" dirty="0"/>
              <a:t>Overall margin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B2A4C85-2DFA-FDB7-A012-8BEF2922098A}"/>
              </a:ext>
            </a:extLst>
          </p:cNvPr>
          <p:cNvSpPr/>
          <p:nvPr/>
        </p:nvSpPr>
        <p:spPr>
          <a:xfrm>
            <a:off x="6940550" y="2052918"/>
            <a:ext cx="1409700" cy="1376082"/>
          </a:xfrm>
          <a:prstGeom prst="rect">
            <a:avLst/>
          </a:prstGeom>
          <a:solidFill>
            <a:schemeClr val="tx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5,009</a:t>
            </a:r>
          </a:p>
          <a:p>
            <a:pPr algn="ctr"/>
            <a:r>
              <a:rPr lang="en-US" sz="1400" dirty="0"/>
              <a:t>Total Orders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C72C38-0044-D417-80F1-85328F93CCC1}"/>
              </a:ext>
            </a:extLst>
          </p:cNvPr>
          <p:cNvSpPr txBox="1"/>
          <p:nvPr/>
        </p:nvSpPr>
        <p:spPr>
          <a:xfrm>
            <a:off x="1058862" y="5327651"/>
            <a:ext cx="92662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 12.47% margin means Superstore keeps just $0.12 of every $1 in sales as profit. The rest of this analysis explains why</a:t>
            </a:r>
          </a:p>
        </p:txBody>
      </p:sp>
    </p:spTree>
    <p:extLst>
      <p:ext uri="{BB962C8B-B14F-4D97-AF65-F5344CB8AC3E}">
        <p14:creationId xmlns:p14="http://schemas.microsoft.com/office/powerpoint/2010/main" val="11866965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52E4C-863C-A00C-227C-4E183E9D1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Finding #1: Discount Drives the Loss</a:t>
            </a:r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28A8C459-647B-C35D-59EB-336EEEDB49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3229958"/>
              </p:ext>
            </p:extLst>
          </p:nvPr>
        </p:nvGraphicFramePr>
        <p:xfrm>
          <a:off x="781050" y="903817"/>
          <a:ext cx="6474515" cy="33700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209B38DE-0B7E-08AC-7DF8-2807D5A0B1DE}"/>
              </a:ext>
            </a:extLst>
          </p:cNvPr>
          <p:cNvSpPr txBox="1"/>
          <p:nvPr/>
        </p:nvSpPr>
        <p:spPr>
          <a:xfrm>
            <a:off x="901148" y="4691270"/>
            <a:ext cx="489749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The Tipping Point: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Discount under 20% stay profitable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Past 20% margins turn negative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At 80% discount, the business loses ~$1.80 for every $1 in sales</a:t>
            </a:r>
          </a:p>
        </p:txBody>
      </p:sp>
    </p:spTree>
    <p:extLst>
      <p:ext uri="{BB962C8B-B14F-4D97-AF65-F5344CB8AC3E}">
        <p14:creationId xmlns:p14="http://schemas.microsoft.com/office/powerpoint/2010/main" val="4130126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8FA27-9D88-968E-15D4-556B46BB1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10529889" cy="1400530"/>
          </a:xfrm>
        </p:spPr>
        <p:txBody>
          <a:bodyPr/>
          <a:lstStyle/>
          <a:p>
            <a:r>
              <a:rPr lang="en-US" sz="2800" dirty="0"/>
              <a:t>Finding #2: Top Sellers Aren’t Always Top Earners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77B95B1C-12D8-1086-FF30-22D3367D30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73528759"/>
              </p:ext>
            </p:extLst>
          </p:nvPr>
        </p:nvGraphicFramePr>
        <p:xfrm>
          <a:off x="1016000" y="897467"/>
          <a:ext cx="8128000" cy="46206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AFF7591-30E9-B23E-321B-25C79C9A97F0}"/>
              </a:ext>
            </a:extLst>
          </p:cNvPr>
          <p:cNvSpPr txBox="1"/>
          <p:nvPr/>
        </p:nvSpPr>
        <p:spPr>
          <a:xfrm>
            <a:off x="1016000" y="5974395"/>
            <a:ext cx="792717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Cisco </a:t>
            </a:r>
            <a:r>
              <a:rPr lang="en-US" sz="1100" dirty="0" err="1"/>
              <a:t>TelePresence</a:t>
            </a:r>
            <a:r>
              <a:rPr lang="en-US" sz="1100" dirty="0"/>
              <a:t> was a top 5 seller by revenue ($22,638) – but loss money (-$1,811) due to heavy discounting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Canon Copier and </a:t>
            </a:r>
            <a:r>
              <a:rPr lang="en-US" sz="1100" dirty="0" err="1"/>
              <a:t>Fellowers</a:t>
            </a:r>
            <a:r>
              <a:rPr lang="en-US" sz="1100" dirty="0"/>
              <a:t> Binder led on both sales and profit</a:t>
            </a:r>
          </a:p>
        </p:txBody>
      </p:sp>
    </p:spTree>
    <p:extLst>
      <p:ext uri="{BB962C8B-B14F-4D97-AF65-F5344CB8AC3E}">
        <p14:creationId xmlns:p14="http://schemas.microsoft.com/office/powerpoint/2010/main" val="441880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977B1-F81B-9834-DA69-C418BD348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10759458" cy="1400530"/>
          </a:xfrm>
        </p:spPr>
        <p:txBody>
          <a:bodyPr/>
          <a:lstStyle/>
          <a:p>
            <a:r>
              <a:rPr lang="en-US" sz="2400" dirty="0"/>
              <a:t>Finding #3: Furniture Is Dragged Down by Two Sub-Categories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9F73AF5-39FD-69D6-A9C2-2A5C10C91AD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52865598"/>
              </p:ext>
            </p:extLst>
          </p:nvPr>
        </p:nvGraphicFramePr>
        <p:xfrm>
          <a:off x="461618" y="845562"/>
          <a:ext cx="4686852" cy="4104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CB0E5B20-B639-6D48-D6AA-725B043027A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56371214"/>
              </p:ext>
            </p:extLst>
          </p:nvPr>
        </p:nvGraphicFramePr>
        <p:xfrm>
          <a:off x="5822054" y="845562"/>
          <a:ext cx="4909931" cy="39782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0097CE2-2351-489C-CE26-12D7A837A4A4}"/>
              </a:ext>
            </a:extLst>
          </p:cNvPr>
          <p:cNvSpPr txBox="1"/>
          <p:nvPr/>
        </p:nvSpPr>
        <p:spPr>
          <a:xfrm>
            <a:off x="748748" y="5393635"/>
            <a:ext cx="55883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Tables and Bookcases are the only two sub-categories operating a loss </a:t>
            </a:r>
          </a:p>
        </p:txBody>
      </p:sp>
    </p:spTree>
    <p:extLst>
      <p:ext uri="{BB962C8B-B14F-4D97-AF65-F5344CB8AC3E}">
        <p14:creationId xmlns:p14="http://schemas.microsoft.com/office/powerpoint/2010/main" val="34011214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6B6C0-186B-076B-5C5D-BDDADAF8E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Finding #4: Central Region’s Weak Margin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E56DDD-88FD-6BE4-C2B9-C241045EAC2F}"/>
              </a:ext>
            </a:extLst>
          </p:cNvPr>
          <p:cNvSpPr txBox="1"/>
          <p:nvPr/>
        </p:nvSpPr>
        <p:spPr>
          <a:xfrm>
            <a:off x="580888" y="5430184"/>
            <a:ext cx="811151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Not a Region-Wide Problem</a:t>
            </a:r>
          </a:p>
          <a:p>
            <a:endParaRPr lang="en-US" sz="1200" dirty="0"/>
          </a:p>
          <a:p>
            <a:r>
              <a:rPr lang="en-US" sz="1200" dirty="0"/>
              <a:t>Central has high sales but low profit with lowest margin. Breaking it down by state revealed the real cause: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Texas (-$25,729 loss, -15.12% margin)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Illinois (-$12,607 loss, -15.73% margin)</a:t>
            </a:r>
          </a:p>
          <a:p>
            <a:r>
              <a:rPr lang="en-US" sz="1200" dirty="0"/>
              <a:t>Every other Central state posted 25-30%</a:t>
            </a:r>
          </a:p>
        </p:txBody>
      </p:sp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175A854F-1E01-63CF-F2AD-A6246CF0E2C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4275182"/>
              </p:ext>
            </p:extLst>
          </p:nvPr>
        </p:nvGraphicFramePr>
        <p:xfrm>
          <a:off x="580888" y="938328"/>
          <a:ext cx="5207242" cy="43294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8" name="Chart 17">
            <a:extLst>
              <a:ext uri="{FF2B5EF4-FFF2-40B4-BE49-F238E27FC236}">
                <a16:creationId xmlns:a16="http://schemas.microsoft.com/office/drawing/2014/main" id="{CD660768-0F0E-730C-5F35-9AB7CFC3840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0316197"/>
              </p:ext>
            </p:extLst>
          </p:nvPr>
        </p:nvGraphicFramePr>
        <p:xfrm>
          <a:off x="6274905" y="873354"/>
          <a:ext cx="5102086" cy="43294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3098108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A865D-9D12-76DE-3B06-26D16C859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Finding #5: Sales Are Outpacing Profit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785C0F8F-2E1F-4386-FE49-115C3C2FF0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43239693"/>
              </p:ext>
            </p:extLst>
          </p:nvPr>
        </p:nvGraphicFramePr>
        <p:xfrm>
          <a:off x="594139" y="951580"/>
          <a:ext cx="5972313" cy="36071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94B47D2-85E6-2A17-8093-7524271FCE11}"/>
              </a:ext>
            </a:extLst>
          </p:cNvPr>
          <p:cNvSpPr txBox="1"/>
          <p:nvPr/>
        </p:nvSpPr>
        <p:spPr>
          <a:xfrm>
            <a:off x="702365" y="5022574"/>
            <a:ext cx="104502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Sales and profit both grew every year but margin peaked in 2016 (13.43%) and dipped in 2017 (12.74%), even as sales hit their highest point</a:t>
            </a:r>
          </a:p>
        </p:txBody>
      </p:sp>
    </p:spTree>
    <p:extLst>
      <p:ext uri="{BB962C8B-B14F-4D97-AF65-F5344CB8AC3E}">
        <p14:creationId xmlns:p14="http://schemas.microsoft.com/office/powerpoint/2010/main" val="35740018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E1A47-0D22-DF72-1C1D-73FF982ED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5F2BEA-69C1-ADDA-ADFE-CB7B13294C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Superstore’s profitability problem isn’t about which products sell, or where they’re sold. It’s about how heavily those sales are discounted</a:t>
            </a:r>
          </a:p>
          <a:p>
            <a:r>
              <a:rPr lang="en-US" dirty="0"/>
              <a:t>Once discount pass roughly 20-30%, profit reliably disappears – a pattern confirmed across individual products, whole categories, and entire regions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88801846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2920</TotalTime>
  <Words>416</Words>
  <Application>Microsoft Office PowerPoint</Application>
  <PresentationFormat>Widescreen</PresentationFormat>
  <Paragraphs>58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Arial</vt:lpstr>
      <vt:lpstr>Century Gothic</vt:lpstr>
      <vt:lpstr>Wingdings 3</vt:lpstr>
      <vt:lpstr>Ion</vt:lpstr>
      <vt:lpstr>Superstore Sales &amp; Profitability Analysis</vt:lpstr>
      <vt:lpstr> The Business Question</vt:lpstr>
      <vt:lpstr>The Headline Numbers</vt:lpstr>
      <vt:lpstr>Finding #1: Discount Drives the Loss</vt:lpstr>
      <vt:lpstr>Finding #2: Top Sellers Aren’t Always Top Earners</vt:lpstr>
      <vt:lpstr>Finding #3: Furniture Is Dragged Down by Two Sub-Categories</vt:lpstr>
      <vt:lpstr>Finding #4: Central Region’s Weak Margin</vt:lpstr>
      <vt:lpstr>Finding #5: Sales Are Outpacing Profit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Tiffany Tran</dc:creator>
  <cp:lastModifiedBy>Tiffany Tran</cp:lastModifiedBy>
  <cp:revision>2</cp:revision>
  <dcterms:created xsi:type="dcterms:W3CDTF">2026-09-02T02:31:47Z</dcterms:created>
  <dcterms:modified xsi:type="dcterms:W3CDTF">2026-09-04T03:12:23Z</dcterms:modified>
</cp:coreProperties>
</file>